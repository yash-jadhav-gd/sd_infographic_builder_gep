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6"/>
  </p:notesMasterIdLst>
  <p:sldIdLst>
    <p:sldId id="2147470641" r:id="rId2"/>
    <p:sldId id="2147470642" r:id="rId3"/>
    <p:sldId id="2147470643" r:id="rId4"/>
    <p:sldId id="2147470644" r:id="rId5"/>
    <p:sldId id="2147470645" r:id="rId6"/>
    <p:sldId id="2147470646" r:id="rId7"/>
    <p:sldId id="2147470647" r:id="rId8"/>
    <p:sldId id="2147470648" r:id="rId9"/>
    <p:sldId id="2147470649" r:id="rId10"/>
    <p:sldId id="2147470650" r:id="rId11"/>
    <p:sldId id="2147470651" r:id="rId12"/>
    <p:sldId id="2147470652" r:id="rId13"/>
    <p:sldId id="2147470653" r:id="rId14"/>
    <p:sldId id="214747065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4660"/>
  </p:normalViewPr>
  <p:slideViewPr>
    <p:cSldViewPr snapToGrid="0">
      <p:cViewPr varScale="1">
        <p:scale>
          <a:sx n="97" d="100"/>
          <a:sy n="97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63A1A-830C-4A9A-B86A-994E9CEC4EDD}" type="datetimeFigureOut">
              <a:rPr lang="en-GB" smtClean="0"/>
              <a:t>19/06/2024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5220-00AE-472E-B200-5B5E79787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455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633B3-5939-4C49-87BE-5FCECF0B46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02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633B3-5939-4C49-87BE-5FCECF0B463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481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633B3-5939-4C49-87BE-5FCECF0B46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54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633B3-5939-4C49-87BE-5FCECF0B463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12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633B3-5939-4C49-87BE-5FCECF0B46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241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633B3-5939-4C49-87BE-5FCECF0B46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93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633B3-5939-4C49-87BE-5FCECF0B463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77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633B3-5939-4C49-87BE-5FCECF0B463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1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633B3-5939-4C49-87BE-5FCECF0B463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61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633B3-5939-4C49-87BE-5FCECF0B463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702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633B3-5939-4C49-87BE-5FCECF0B463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03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633B3-5939-4C49-87BE-5FCECF0B463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58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633B3-5939-4C49-87BE-5FCECF0B463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918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633B3-5939-4C49-87BE-5FCECF0B463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69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p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716CED-701F-7E4B-0A0C-B63C3DC8DA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" y="1"/>
            <a:ext cx="12192001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0173DB-1F20-1514-D67D-A654604FC6DD}"/>
              </a:ext>
            </a:extLst>
          </p:cNvPr>
          <p:cNvSpPr/>
          <p:nvPr userDrawn="1"/>
        </p:nvSpPr>
        <p:spPr>
          <a:xfrm>
            <a:off x="-4" y="0"/>
            <a:ext cx="12192004" cy="6857999"/>
          </a:xfrm>
          <a:prstGeom prst="rect">
            <a:avLst/>
          </a:prstGeom>
          <a:solidFill>
            <a:schemeClr val="tx1">
              <a:alpha val="3182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97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7413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nual Input 7">
            <a:extLst>
              <a:ext uri="{FF2B5EF4-FFF2-40B4-BE49-F238E27FC236}">
                <a16:creationId xmlns:a16="http://schemas.microsoft.com/office/drawing/2014/main" id="{0AA68C64-A03A-7A84-562B-9CCE8764B526}"/>
              </a:ext>
            </a:extLst>
          </p:cNvPr>
          <p:cNvSpPr/>
          <p:nvPr/>
        </p:nvSpPr>
        <p:spPr>
          <a:xfrm rot="16200000">
            <a:off x="5604353" y="270352"/>
            <a:ext cx="6858000" cy="6317293"/>
          </a:xfrm>
          <a:prstGeom prst="flowChartManualInput">
            <a:avLst/>
          </a:prstGeo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-1739900" ty="0" sx="100000" sy="99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Manual Input 14">
            <a:extLst>
              <a:ext uri="{FF2B5EF4-FFF2-40B4-BE49-F238E27FC236}">
                <a16:creationId xmlns:a16="http://schemas.microsoft.com/office/drawing/2014/main" id="{12D2F7EE-CBC4-BB6F-08B9-5FA89316727F}"/>
              </a:ext>
            </a:extLst>
          </p:cNvPr>
          <p:cNvSpPr/>
          <p:nvPr/>
        </p:nvSpPr>
        <p:spPr>
          <a:xfrm rot="16200000">
            <a:off x="5604354" y="270350"/>
            <a:ext cx="6858000" cy="6317293"/>
          </a:xfrm>
          <a:prstGeom prst="flowChartManualInpu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F86065-3225-38BD-FF32-C72DE51A592F}"/>
              </a:ext>
            </a:extLst>
          </p:cNvPr>
          <p:cNvSpPr/>
          <p:nvPr/>
        </p:nvSpPr>
        <p:spPr>
          <a:xfrm rot="20976550">
            <a:off x="6476210" y="1858686"/>
            <a:ext cx="71118" cy="31406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366691F-134A-1EFE-F3A3-9DD97740B487}"/>
              </a:ext>
            </a:extLst>
          </p:cNvPr>
          <p:cNvSpPr txBox="1">
            <a:spLocks/>
          </p:cNvSpPr>
          <p:nvPr/>
        </p:nvSpPr>
        <p:spPr>
          <a:xfrm>
            <a:off x="603872" y="2455598"/>
            <a:ext cx="5809296" cy="15425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b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AEROSPACE AND DEFENSE</a:t>
            </a:r>
            <a:endParaRPr lang="en-US" sz="4800" b="1" dirty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D49C423-834B-194F-A539-464C9135432B}"/>
              </a:ext>
            </a:extLst>
          </p:cNvPr>
          <p:cNvSpPr txBox="1">
            <a:spLocks/>
          </p:cNvSpPr>
          <p:nvPr/>
        </p:nvSpPr>
        <p:spPr>
          <a:xfrm>
            <a:off x="603872" y="3951712"/>
            <a:ext cx="4286430" cy="5392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5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Nunc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varius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477D62-03E1-26FE-1A24-2B7C87530F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719117" y="441777"/>
            <a:ext cx="1730520" cy="4375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0CC1DA-BD6B-92A2-22DF-E50776D1A7F2}"/>
              </a:ext>
            </a:extLst>
          </p:cNvPr>
          <p:cNvSpPr/>
          <p:nvPr/>
        </p:nvSpPr>
        <p:spPr>
          <a:xfrm>
            <a:off x="719117" y="6352112"/>
            <a:ext cx="4286430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SUSTAINABLE, RESILIENT, COST-EFFECTIVE</a:t>
            </a:r>
            <a:endParaRPr kumimoji="0" lang="en-US" sz="1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813AD7-FA5A-2626-27BF-BCB5C72F2309}"/>
              </a:ext>
            </a:extLst>
          </p:cNvPr>
          <p:cNvSpPr/>
          <p:nvPr/>
        </p:nvSpPr>
        <p:spPr>
          <a:xfrm>
            <a:off x="712871" y="1085221"/>
            <a:ext cx="45236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STRATEGY | SOFTWARE | MANAGED SERVICES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DFD14-CA40-6A83-AF3D-E28A39276BAA}"/>
              </a:ext>
            </a:extLst>
          </p:cNvPr>
          <p:cNvSpPr/>
          <p:nvPr/>
        </p:nvSpPr>
        <p:spPr>
          <a:xfrm>
            <a:off x="7739807" y="6346331"/>
            <a:ext cx="3879267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END-TO-END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69320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EBF6C77-CF02-C518-091F-C00BBBEB5E19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4706" y="0"/>
            <a:ext cx="6317294" cy="6858000"/>
          </a:xfrm>
          <a:custGeom>
            <a:avLst/>
            <a:gdLst>
              <a:gd name="connsiteX0" fmla="*/ 0 w 6317294"/>
              <a:gd name="connsiteY0" fmla="*/ 0 h 6858000"/>
              <a:gd name="connsiteX1" fmla="*/ 6317294 w 6317294"/>
              <a:gd name="connsiteY1" fmla="*/ 0 h 6858000"/>
              <a:gd name="connsiteX2" fmla="*/ 6317294 w 6317294"/>
              <a:gd name="connsiteY2" fmla="*/ 6858000 h 6858000"/>
              <a:gd name="connsiteX3" fmla="*/ 1263460 w 631729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7294" h="6858000">
                <a:moveTo>
                  <a:pt x="0" y="0"/>
                </a:moveTo>
                <a:lnTo>
                  <a:pt x="6317294" y="0"/>
                </a:lnTo>
                <a:lnTo>
                  <a:pt x="6317294" y="6858000"/>
                </a:lnTo>
                <a:lnTo>
                  <a:pt x="1263460" y="6858000"/>
                </a:lnTo>
                <a:close/>
              </a:path>
            </a:pathLst>
          </a:cu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366691F-134A-1EFE-F3A3-9DD97740B487}"/>
              </a:ext>
            </a:extLst>
          </p:cNvPr>
          <p:cNvSpPr txBox="1">
            <a:spLocks/>
          </p:cNvSpPr>
          <p:nvPr/>
        </p:nvSpPr>
        <p:spPr>
          <a:xfrm>
            <a:off x="603872" y="2455598"/>
            <a:ext cx="5809296" cy="15425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800" b="1" dirty="0">
                <a:solidFill>
                  <a:schemeClr val="bg1"/>
                </a:solidFill>
                <a:latin typeface="Arial Black" panose="020B0604020202020204" pitchFamily="34" charset="0"/>
              </a:rPr>
              <a:t>AUTOMOTIVE</a:t>
            </a:r>
            <a:endParaRPr lang="en-US" sz="4800" b="1" dirty="0">
              <a:solidFill>
                <a:schemeClr val="bg1"/>
              </a:solidFill>
              <a:latin typeface="Arial Black" panose="020B0604020202020204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D49C423-834B-194F-A539-464C9135432B}"/>
              </a:ext>
            </a:extLst>
          </p:cNvPr>
          <p:cNvSpPr txBox="1">
            <a:spLocks/>
          </p:cNvSpPr>
          <p:nvPr/>
        </p:nvSpPr>
        <p:spPr>
          <a:xfrm>
            <a:off x="603872" y="3951712"/>
            <a:ext cx="4286430" cy="5392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5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Nunc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varius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477D62-03E1-26FE-1A24-2B7C87530F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719117" y="441777"/>
            <a:ext cx="1730520" cy="4375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0CC1DA-BD6B-92A2-22DF-E50776D1A7F2}"/>
              </a:ext>
            </a:extLst>
          </p:cNvPr>
          <p:cNvSpPr/>
          <p:nvPr/>
        </p:nvSpPr>
        <p:spPr>
          <a:xfrm>
            <a:off x="719117" y="6352112"/>
            <a:ext cx="4286430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SUSTAINABLE, RESILIENT, COST-EFFECTIVE</a:t>
            </a:r>
            <a:endParaRPr kumimoji="0" lang="en-US" sz="1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813AD7-FA5A-2626-27BF-BCB5C72F2309}"/>
              </a:ext>
            </a:extLst>
          </p:cNvPr>
          <p:cNvSpPr/>
          <p:nvPr/>
        </p:nvSpPr>
        <p:spPr>
          <a:xfrm>
            <a:off x="712871" y="1085221"/>
            <a:ext cx="45236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STRATEGY | SOFTWARE | MANAGED SERVICES </a:t>
            </a:r>
          </a:p>
        </p:txBody>
      </p:sp>
      <p:sp>
        <p:nvSpPr>
          <p:cNvPr id="2" name="Manual Input 14">
            <a:extLst>
              <a:ext uri="{FF2B5EF4-FFF2-40B4-BE49-F238E27FC236}">
                <a16:creationId xmlns:a16="http://schemas.microsoft.com/office/drawing/2014/main" id="{8393F0CB-4F65-B388-75F4-21D1CFB9DD7F}"/>
              </a:ext>
            </a:extLst>
          </p:cNvPr>
          <p:cNvSpPr/>
          <p:nvPr/>
        </p:nvSpPr>
        <p:spPr>
          <a:xfrm rot="16200000">
            <a:off x="5604354" y="270350"/>
            <a:ext cx="6858000" cy="6317293"/>
          </a:xfrm>
          <a:prstGeom prst="flowChartManualInpu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F86065-3225-38BD-FF32-C72DE51A592F}"/>
              </a:ext>
            </a:extLst>
          </p:cNvPr>
          <p:cNvSpPr/>
          <p:nvPr/>
        </p:nvSpPr>
        <p:spPr>
          <a:xfrm rot="20976550">
            <a:off x="6476210" y="1858686"/>
            <a:ext cx="71118" cy="31406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DFD14-CA40-6A83-AF3D-E28A39276BAA}"/>
              </a:ext>
            </a:extLst>
          </p:cNvPr>
          <p:cNvSpPr/>
          <p:nvPr/>
        </p:nvSpPr>
        <p:spPr>
          <a:xfrm>
            <a:off x="7739807" y="6346331"/>
            <a:ext cx="3879267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END-TO-END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47668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EBF6C77-CF02-C518-091F-C00BBBEB5E19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4706" y="0"/>
            <a:ext cx="6317294" cy="6858000"/>
          </a:xfrm>
          <a:custGeom>
            <a:avLst/>
            <a:gdLst>
              <a:gd name="connsiteX0" fmla="*/ 0 w 6317294"/>
              <a:gd name="connsiteY0" fmla="*/ 0 h 6858000"/>
              <a:gd name="connsiteX1" fmla="*/ 6317294 w 6317294"/>
              <a:gd name="connsiteY1" fmla="*/ 0 h 6858000"/>
              <a:gd name="connsiteX2" fmla="*/ 6317294 w 6317294"/>
              <a:gd name="connsiteY2" fmla="*/ 6858000 h 6858000"/>
              <a:gd name="connsiteX3" fmla="*/ 1263460 w 631729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7294" h="6858000">
                <a:moveTo>
                  <a:pt x="0" y="0"/>
                </a:moveTo>
                <a:lnTo>
                  <a:pt x="6317294" y="0"/>
                </a:lnTo>
                <a:lnTo>
                  <a:pt x="6317294" y="6858000"/>
                </a:lnTo>
                <a:lnTo>
                  <a:pt x="1263460" y="6858000"/>
                </a:lnTo>
                <a:close/>
              </a:path>
            </a:pathLst>
          </a:cu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366691F-134A-1EFE-F3A3-9DD97740B487}"/>
              </a:ext>
            </a:extLst>
          </p:cNvPr>
          <p:cNvSpPr txBox="1">
            <a:spLocks/>
          </p:cNvSpPr>
          <p:nvPr/>
        </p:nvSpPr>
        <p:spPr>
          <a:xfrm>
            <a:off x="603872" y="2455598"/>
            <a:ext cx="5809296" cy="15425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800" b="1" dirty="0">
                <a:solidFill>
                  <a:schemeClr val="bg1"/>
                </a:solidFill>
                <a:latin typeface="Arial Black" panose="020B0604020202020204" pitchFamily="34" charset="0"/>
              </a:rPr>
              <a:t>CHEMICALS</a:t>
            </a:r>
            <a:endParaRPr lang="en-US" sz="4800" b="1" dirty="0">
              <a:solidFill>
                <a:schemeClr val="bg1"/>
              </a:solidFill>
              <a:latin typeface="Arial Black" panose="020B0604020202020204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D49C423-834B-194F-A539-464C9135432B}"/>
              </a:ext>
            </a:extLst>
          </p:cNvPr>
          <p:cNvSpPr txBox="1">
            <a:spLocks/>
          </p:cNvSpPr>
          <p:nvPr/>
        </p:nvSpPr>
        <p:spPr>
          <a:xfrm>
            <a:off x="603872" y="3951712"/>
            <a:ext cx="4286430" cy="5392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5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Nunc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varius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477D62-03E1-26FE-1A24-2B7C87530F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719117" y="441777"/>
            <a:ext cx="1730520" cy="4375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0CC1DA-BD6B-92A2-22DF-E50776D1A7F2}"/>
              </a:ext>
            </a:extLst>
          </p:cNvPr>
          <p:cNvSpPr/>
          <p:nvPr/>
        </p:nvSpPr>
        <p:spPr>
          <a:xfrm>
            <a:off x="719117" y="6352112"/>
            <a:ext cx="4286430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SUSTAINABLE, RESILIENT, COST-EFFECTIVE</a:t>
            </a:r>
            <a:endParaRPr kumimoji="0" lang="en-US" sz="1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813AD7-FA5A-2626-27BF-BCB5C72F2309}"/>
              </a:ext>
            </a:extLst>
          </p:cNvPr>
          <p:cNvSpPr/>
          <p:nvPr/>
        </p:nvSpPr>
        <p:spPr>
          <a:xfrm>
            <a:off x="712871" y="1085221"/>
            <a:ext cx="45236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STRATEGY | SOFTWARE | MANAGED SERVICES </a:t>
            </a:r>
          </a:p>
        </p:txBody>
      </p:sp>
      <p:sp>
        <p:nvSpPr>
          <p:cNvPr id="2" name="Manual Input 14">
            <a:extLst>
              <a:ext uri="{FF2B5EF4-FFF2-40B4-BE49-F238E27FC236}">
                <a16:creationId xmlns:a16="http://schemas.microsoft.com/office/drawing/2014/main" id="{A4DA2CC5-7E4C-BE77-35E4-B930FC42D0D7}"/>
              </a:ext>
            </a:extLst>
          </p:cNvPr>
          <p:cNvSpPr/>
          <p:nvPr/>
        </p:nvSpPr>
        <p:spPr>
          <a:xfrm rot="16200000">
            <a:off x="5604354" y="270350"/>
            <a:ext cx="6858000" cy="6317293"/>
          </a:xfrm>
          <a:prstGeom prst="flowChartManualInpu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F86065-3225-38BD-FF32-C72DE51A592F}"/>
              </a:ext>
            </a:extLst>
          </p:cNvPr>
          <p:cNvSpPr/>
          <p:nvPr/>
        </p:nvSpPr>
        <p:spPr>
          <a:xfrm rot="20976550">
            <a:off x="6476210" y="1858686"/>
            <a:ext cx="71118" cy="31406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DFD14-CA40-6A83-AF3D-E28A39276BAA}"/>
              </a:ext>
            </a:extLst>
          </p:cNvPr>
          <p:cNvSpPr/>
          <p:nvPr/>
        </p:nvSpPr>
        <p:spPr>
          <a:xfrm>
            <a:off x="7739807" y="6346331"/>
            <a:ext cx="3879267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END-TO-END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514510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EBF6C77-CF02-C518-091F-C00BBBEB5E1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4706" y="0"/>
            <a:ext cx="6317294" cy="6858000"/>
          </a:xfrm>
          <a:custGeom>
            <a:avLst/>
            <a:gdLst>
              <a:gd name="connsiteX0" fmla="*/ 0 w 6317294"/>
              <a:gd name="connsiteY0" fmla="*/ 0 h 6858000"/>
              <a:gd name="connsiteX1" fmla="*/ 6317294 w 6317294"/>
              <a:gd name="connsiteY1" fmla="*/ 0 h 6858000"/>
              <a:gd name="connsiteX2" fmla="*/ 6317294 w 6317294"/>
              <a:gd name="connsiteY2" fmla="*/ 6858000 h 6858000"/>
              <a:gd name="connsiteX3" fmla="*/ 1263460 w 631729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7294" h="6858000">
                <a:moveTo>
                  <a:pt x="0" y="0"/>
                </a:moveTo>
                <a:lnTo>
                  <a:pt x="6317294" y="0"/>
                </a:lnTo>
                <a:lnTo>
                  <a:pt x="6317294" y="6858000"/>
                </a:lnTo>
                <a:lnTo>
                  <a:pt x="1263460" y="6858000"/>
                </a:lnTo>
                <a:close/>
              </a:path>
            </a:pathLst>
          </a:cu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366691F-134A-1EFE-F3A3-9DD97740B487}"/>
              </a:ext>
            </a:extLst>
          </p:cNvPr>
          <p:cNvSpPr txBox="1">
            <a:spLocks/>
          </p:cNvSpPr>
          <p:nvPr/>
        </p:nvSpPr>
        <p:spPr>
          <a:xfrm>
            <a:off x="603872" y="2455598"/>
            <a:ext cx="5809296" cy="15425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800" b="1" dirty="0">
                <a:solidFill>
                  <a:schemeClr val="bg1"/>
                </a:solidFill>
                <a:latin typeface="Arial Black" panose="020B0604020202020204" pitchFamily="34" charset="0"/>
              </a:rPr>
              <a:t>CONSUMER PACKAGED GOODS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D49C423-834B-194F-A539-464C9135432B}"/>
              </a:ext>
            </a:extLst>
          </p:cNvPr>
          <p:cNvSpPr txBox="1">
            <a:spLocks/>
          </p:cNvSpPr>
          <p:nvPr/>
        </p:nvSpPr>
        <p:spPr>
          <a:xfrm>
            <a:off x="603872" y="3951712"/>
            <a:ext cx="4286430" cy="5392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5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Nunc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varius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477D62-03E1-26FE-1A24-2B7C87530F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719117" y="441777"/>
            <a:ext cx="1730520" cy="4375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0CC1DA-BD6B-92A2-22DF-E50776D1A7F2}"/>
              </a:ext>
            </a:extLst>
          </p:cNvPr>
          <p:cNvSpPr/>
          <p:nvPr/>
        </p:nvSpPr>
        <p:spPr>
          <a:xfrm>
            <a:off x="719117" y="6352112"/>
            <a:ext cx="4286430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SUSTAINABLE, RESILIENT, COST-EFFECTIVE</a:t>
            </a:r>
            <a:endParaRPr kumimoji="0" lang="en-US" sz="1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813AD7-FA5A-2626-27BF-BCB5C72F2309}"/>
              </a:ext>
            </a:extLst>
          </p:cNvPr>
          <p:cNvSpPr/>
          <p:nvPr/>
        </p:nvSpPr>
        <p:spPr>
          <a:xfrm>
            <a:off x="712871" y="1085221"/>
            <a:ext cx="45236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STRATEGY | SOFTWARE | MANAGED SERVICES </a:t>
            </a:r>
          </a:p>
        </p:txBody>
      </p:sp>
      <p:sp>
        <p:nvSpPr>
          <p:cNvPr id="2" name="Manual Input 14">
            <a:extLst>
              <a:ext uri="{FF2B5EF4-FFF2-40B4-BE49-F238E27FC236}">
                <a16:creationId xmlns:a16="http://schemas.microsoft.com/office/drawing/2014/main" id="{B2C44766-0B00-D17D-A512-A8648FBA3BE1}"/>
              </a:ext>
            </a:extLst>
          </p:cNvPr>
          <p:cNvSpPr/>
          <p:nvPr/>
        </p:nvSpPr>
        <p:spPr>
          <a:xfrm rot="16200000">
            <a:off x="5604354" y="270350"/>
            <a:ext cx="6858000" cy="6317293"/>
          </a:xfrm>
          <a:prstGeom prst="flowChartManualInpu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F86065-3225-38BD-FF32-C72DE51A592F}"/>
              </a:ext>
            </a:extLst>
          </p:cNvPr>
          <p:cNvSpPr/>
          <p:nvPr/>
        </p:nvSpPr>
        <p:spPr>
          <a:xfrm rot="20976550">
            <a:off x="6476210" y="1858686"/>
            <a:ext cx="71118" cy="31406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DFD14-CA40-6A83-AF3D-E28A39276BAA}"/>
              </a:ext>
            </a:extLst>
          </p:cNvPr>
          <p:cNvSpPr/>
          <p:nvPr/>
        </p:nvSpPr>
        <p:spPr>
          <a:xfrm>
            <a:off x="7739807" y="6346331"/>
            <a:ext cx="3879267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END-TO-END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531111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EBF6C77-CF02-C518-091F-C00BBBEB5E19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6"/>
          <a:stretch/>
        </p:blipFill>
        <p:spPr>
          <a:xfrm>
            <a:off x="5874706" y="0"/>
            <a:ext cx="6317294" cy="6858000"/>
          </a:xfrm>
          <a:custGeom>
            <a:avLst/>
            <a:gdLst>
              <a:gd name="connsiteX0" fmla="*/ 0 w 6317294"/>
              <a:gd name="connsiteY0" fmla="*/ 0 h 6858000"/>
              <a:gd name="connsiteX1" fmla="*/ 6317294 w 6317294"/>
              <a:gd name="connsiteY1" fmla="*/ 0 h 6858000"/>
              <a:gd name="connsiteX2" fmla="*/ 6317294 w 6317294"/>
              <a:gd name="connsiteY2" fmla="*/ 6858000 h 6858000"/>
              <a:gd name="connsiteX3" fmla="*/ 1263460 w 631729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7294" h="6858000">
                <a:moveTo>
                  <a:pt x="0" y="0"/>
                </a:moveTo>
                <a:lnTo>
                  <a:pt x="6317294" y="0"/>
                </a:lnTo>
                <a:lnTo>
                  <a:pt x="6317294" y="6858000"/>
                </a:lnTo>
                <a:lnTo>
                  <a:pt x="1263460" y="6858000"/>
                </a:lnTo>
                <a:close/>
              </a:path>
            </a:pathLst>
          </a:cu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366691F-134A-1EFE-F3A3-9DD97740B487}"/>
              </a:ext>
            </a:extLst>
          </p:cNvPr>
          <p:cNvSpPr txBox="1">
            <a:spLocks/>
          </p:cNvSpPr>
          <p:nvPr/>
        </p:nvSpPr>
        <p:spPr>
          <a:xfrm>
            <a:off x="603872" y="2455598"/>
            <a:ext cx="5809296" cy="15425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800" b="1" dirty="0">
                <a:solidFill>
                  <a:schemeClr val="bg1"/>
                </a:solidFill>
                <a:latin typeface="Arial Black" panose="020B0604020202020204" pitchFamily="34" charset="0"/>
              </a:rPr>
              <a:t>ENERGY &amp; UTILITIES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D49C423-834B-194F-A539-464C9135432B}"/>
              </a:ext>
            </a:extLst>
          </p:cNvPr>
          <p:cNvSpPr txBox="1">
            <a:spLocks/>
          </p:cNvSpPr>
          <p:nvPr/>
        </p:nvSpPr>
        <p:spPr>
          <a:xfrm>
            <a:off x="603872" y="3951712"/>
            <a:ext cx="4286430" cy="5392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5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Nunc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varius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477D62-03E1-26FE-1A24-2B7C87530F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719117" y="441777"/>
            <a:ext cx="1730520" cy="4375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0CC1DA-BD6B-92A2-22DF-E50776D1A7F2}"/>
              </a:ext>
            </a:extLst>
          </p:cNvPr>
          <p:cNvSpPr/>
          <p:nvPr/>
        </p:nvSpPr>
        <p:spPr>
          <a:xfrm>
            <a:off x="719117" y="6352112"/>
            <a:ext cx="4286430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SUSTAINABLE, RESILIENT, COST-EFFECTIVE</a:t>
            </a:r>
            <a:endParaRPr kumimoji="0" lang="en-US" sz="1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813AD7-FA5A-2626-27BF-BCB5C72F2309}"/>
              </a:ext>
            </a:extLst>
          </p:cNvPr>
          <p:cNvSpPr/>
          <p:nvPr/>
        </p:nvSpPr>
        <p:spPr>
          <a:xfrm>
            <a:off x="712871" y="1085221"/>
            <a:ext cx="45236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STRATEGY | SOFTWARE | MANAGED SERVICES </a:t>
            </a:r>
          </a:p>
        </p:txBody>
      </p:sp>
      <p:sp>
        <p:nvSpPr>
          <p:cNvPr id="2" name="Manual Input 14">
            <a:extLst>
              <a:ext uri="{FF2B5EF4-FFF2-40B4-BE49-F238E27FC236}">
                <a16:creationId xmlns:a16="http://schemas.microsoft.com/office/drawing/2014/main" id="{F0E4231F-45EC-B795-E1DA-731E082D9C1C}"/>
              </a:ext>
            </a:extLst>
          </p:cNvPr>
          <p:cNvSpPr/>
          <p:nvPr/>
        </p:nvSpPr>
        <p:spPr>
          <a:xfrm rot="16200000">
            <a:off x="5604354" y="270350"/>
            <a:ext cx="6858000" cy="6317293"/>
          </a:xfrm>
          <a:prstGeom prst="flowChartManualInpu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F86065-3225-38BD-FF32-C72DE51A592F}"/>
              </a:ext>
            </a:extLst>
          </p:cNvPr>
          <p:cNvSpPr/>
          <p:nvPr/>
        </p:nvSpPr>
        <p:spPr>
          <a:xfrm rot="20976550">
            <a:off x="6476210" y="1858686"/>
            <a:ext cx="71118" cy="31406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DFD14-CA40-6A83-AF3D-E28A39276BAA}"/>
              </a:ext>
            </a:extLst>
          </p:cNvPr>
          <p:cNvSpPr/>
          <p:nvPr/>
        </p:nvSpPr>
        <p:spPr>
          <a:xfrm>
            <a:off x="7739807" y="6346331"/>
            <a:ext cx="3879267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END-TO-END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73800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EBF6C77-CF02-C518-091F-C00BBBEB5E1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4706" y="0"/>
            <a:ext cx="6317294" cy="6858000"/>
          </a:xfrm>
          <a:custGeom>
            <a:avLst/>
            <a:gdLst>
              <a:gd name="connsiteX0" fmla="*/ 0 w 6317294"/>
              <a:gd name="connsiteY0" fmla="*/ 0 h 6858000"/>
              <a:gd name="connsiteX1" fmla="*/ 6317294 w 6317294"/>
              <a:gd name="connsiteY1" fmla="*/ 0 h 6858000"/>
              <a:gd name="connsiteX2" fmla="*/ 6317294 w 6317294"/>
              <a:gd name="connsiteY2" fmla="*/ 6858000 h 6858000"/>
              <a:gd name="connsiteX3" fmla="*/ 1263460 w 631729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7294" h="6858000">
                <a:moveTo>
                  <a:pt x="0" y="0"/>
                </a:moveTo>
                <a:lnTo>
                  <a:pt x="6317294" y="0"/>
                </a:lnTo>
                <a:lnTo>
                  <a:pt x="6317294" y="6858000"/>
                </a:lnTo>
                <a:lnTo>
                  <a:pt x="1263460" y="6858000"/>
                </a:lnTo>
                <a:close/>
              </a:path>
            </a:pathLst>
          </a:cu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366691F-134A-1EFE-F3A3-9DD97740B487}"/>
              </a:ext>
            </a:extLst>
          </p:cNvPr>
          <p:cNvSpPr txBox="1">
            <a:spLocks/>
          </p:cNvSpPr>
          <p:nvPr/>
        </p:nvSpPr>
        <p:spPr>
          <a:xfrm>
            <a:off x="603872" y="2455598"/>
            <a:ext cx="5809296" cy="15425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800" b="1" dirty="0">
                <a:solidFill>
                  <a:schemeClr val="bg1"/>
                </a:solidFill>
                <a:latin typeface="Arial Black" panose="020B0604020202020204" pitchFamily="34" charset="0"/>
              </a:rPr>
              <a:t>FINANCIAL SERVICES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D49C423-834B-194F-A539-464C9135432B}"/>
              </a:ext>
            </a:extLst>
          </p:cNvPr>
          <p:cNvSpPr txBox="1">
            <a:spLocks/>
          </p:cNvSpPr>
          <p:nvPr/>
        </p:nvSpPr>
        <p:spPr>
          <a:xfrm>
            <a:off x="603872" y="3951712"/>
            <a:ext cx="4286430" cy="5392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5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Nunc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varius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477D62-03E1-26FE-1A24-2B7C87530F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719117" y="441777"/>
            <a:ext cx="1730520" cy="4375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0CC1DA-BD6B-92A2-22DF-E50776D1A7F2}"/>
              </a:ext>
            </a:extLst>
          </p:cNvPr>
          <p:cNvSpPr/>
          <p:nvPr/>
        </p:nvSpPr>
        <p:spPr>
          <a:xfrm>
            <a:off x="719117" y="6352112"/>
            <a:ext cx="4286430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SUSTAINABLE, RESILIENT, COST-EFFECTIVE</a:t>
            </a:r>
            <a:endParaRPr kumimoji="0" lang="en-US" sz="1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813AD7-FA5A-2626-27BF-BCB5C72F2309}"/>
              </a:ext>
            </a:extLst>
          </p:cNvPr>
          <p:cNvSpPr/>
          <p:nvPr/>
        </p:nvSpPr>
        <p:spPr>
          <a:xfrm>
            <a:off x="712871" y="1085221"/>
            <a:ext cx="45236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STRATEGY | SOFTWARE | MANAGED SERVICES </a:t>
            </a:r>
          </a:p>
        </p:txBody>
      </p:sp>
      <p:sp>
        <p:nvSpPr>
          <p:cNvPr id="2" name="Manual Input 14">
            <a:extLst>
              <a:ext uri="{FF2B5EF4-FFF2-40B4-BE49-F238E27FC236}">
                <a16:creationId xmlns:a16="http://schemas.microsoft.com/office/drawing/2014/main" id="{27DA08BB-BDC9-6BFC-B5AA-51EA586E7913}"/>
              </a:ext>
            </a:extLst>
          </p:cNvPr>
          <p:cNvSpPr/>
          <p:nvPr/>
        </p:nvSpPr>
        <p:spPr>
          <a:xfrm rot="16200000">
            <a:off x="5604354" y="270350"/>
            <a:ext cx="6858000" cy="6317293"/>
          </a:xfrm>
          <a:prstGeom prst="flowChartManualInpu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F86065-3225-38BD-FF32-C72DE51A592F}"/>
              </a:ext>
            </a:extLst>
          </p:cNvPr>
          <p:cNvSpPr/>
          <p:nvPr/>
        </p:nvSpPr>
        <p:spPr>
          <a:xfrm rot="20976550">
            <a:off x="6476210" y="1858686"/>
            <a:ext cx="71118" cy="31406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DFD14-CA40-6A83-AF3D-E28A39276BAA}"/>
              </a:ext>
            </a:extLst>
          </p:cNvPr>
          <p:cNvSpPr/>
          <p:nvPr/>
        </p:nvSpPr>
        <p:spPr>
          <a:xfrm>
            <a:off x="7739807" y="6346331"/>
            <a:ext cx="3879267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END-TO-END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41844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EBF6C77-CF02-C518-091F-C00BBBEB5E19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4706" y="0"/>
            <a:ext cx="6317294" cy="6858000"/>
          </a:xfrm>
          <a:custGeom>
            <a:avLst/>
            <a:gdLst>
              <a:gd name="connsiteX0" fmla="*/ 0 w 6317294"/>
              <a:gd name="connsiteY0" fmla="*/ 0 h 6858000"/>
              <a:gd name="connsiteX1" fmla="*/ 6317294 w 6317294"/>
              <a:gd name="connsiteY1" fmla="*/ 0 h 6858000"/>
              <a:gd name="connsiteX2" fmla="*/ 6317294 w 6317294"/>
              <a:gd name="connsiteY2" fmla="*/ 6858000 h 6858000"/>
              <a:gd name="connsiteX3" fmla="*/ 1263460 w 631729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7294" h="6858000">
                <a:moveTo>
                  <a:pt x="0" y="0"/>
                </a:moveTo>
                <a:lnTo>
                  <a:pt x="6317294" y="0"/>
                </a:lnTo>
                <a:lnTo>
                  <a:pt x="6317294" y="6858000"/>
                </a:lnTo>
                <a:lnTo>
                  <a:pt x="1263460" y="6858000"/>
                </a:lnTo>
                <a:close/>
              </a:path>
            </a:pathLst>
          </a:cu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366691F-134A-1EFE-F3A3-9DD97740B487}"/>
              </a:ext>
            </a:extLst>
          </p:cNvPr>
          <p:cNvSpPr txBox="1">
            <a:spLocks/>
          </p:cNvSpPr>
          <p:nvPr/>
        </p:nvSpPr>
        <p:spPr>
          <a:xfrm>
            <a:off x="603872" y="2455598"/>
            <a:ext cx="5809296" cy="15425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800" b="1" dirty="0">
                <a:solidFill>
                  <a:schemeClr val="bg1"/>
                </a:solidFill>
                <a:latin typeface="Arial Black" panose="020B0604020202020204" pitchFamily="34" charset="0"/>
              </a:rPr>
              <a:t>GOVERNMENT &amp; NONPROFIT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D49C423-834B-194F-A539-464C9135432B}"/>
              </a:ext>
            </a:extLst>
          </p:cNvPr>
          <p:cNvSpPr txBox="1">
            <a:spLocks/>
          </p:cNvSpPr>
          <p:nvPr/>
        </p:nvSpPr>
        <p:spPr>
          <a:xfrm>
            <a:off x="603872" y="3951712"/>
            <a:ext cx="4286430" cy="5392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5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Nunc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varius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477D62-03E1-26FE-1A24-2B7C87530F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719117" y="441777"/>
            <a:ext cx="1730520" cy="4375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0CC1DA-BD6B-92A2-22DF-E50776D1A7F2}"/>
              </a:ext>
            </a:extLst>
          </p:cNvPr>
          <p:cNvSpPr/>
          <p:nvPr/>
        </p:nvSpPr>
        <p:spPr>
          <a:xfrm>
            <a:off x="719117" y="6352112"/>
            <a:ext cx="4286430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SUSTAINABLE, RESILIENT, COST-EFFECTIVE</a:t>
            </a:r>
            <a:endParaRPr kumimoji="0" lang="en-US" sz="1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813AD7-FA5A-2626-27BF-BCB5C72F2309}"/>
              </a:ext>
            </a:extLst>
          </p:cNvPr>
          <p:cNvSpPr/>
          <p:nvPr/>
        </p:nvSpPr>
        <p:spPr>
          <a:xfrm>
            <a:off x="712871" y="1085221"/>
            <a:ext cx="45236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STRATEGY | SOFTWARE | MANAGED SERVICES </a:t>
            </a:r>
          </a:p>
        </p:txBody>
      </p:sp>
      <p:sp>
        <p:nvSpPr>
          <p:cNvPr id="2" name="Manual Input 14">
            <a:extLst>
              <a:ext uri="{FF2B5EF4-FFF2-40B4-BE49-F238E27FC236}">
                <a16:creationId xmlns:a16="http://schemas.microsoft.com/office/drawing/2014/main" id="{90A70D75-8CD6-0254-87BE-3BE01F5999C8}"/>
              </a:ext>
            </a:extLst>
          </p:cNvPr>
          <p:cNvSpPr/>
          <p:nvPr/>
        </p:nvSpPr>
        <p:spPr>
          <a:xfrm rot="16200000">
            <a:off x="5604354" y="270350"/>
            <a:ext cx="6858000" cy="6317293"/>
          </a:xfrm>
          <a:prstGeom prst="flowChartManualInpu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F86065-3225-38BD-FF32-C72DE51A592F}"/>
              </a:ext>
            </a:extLst>
          </p:cNvPr>
          <p:cNvSpPr/>
          <p:nvPr/>
        </p:nvSpPr>
        <p:spPr>
          <a:xfrm rot="20976550">
            <a:off x="6476210" y="1858686"/>
            <a:ext cx="71118" cy="31406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DFD14-CA40-6A83-AF3D-E28A39276BAA}"/>
              </a:ext>
            </a:extLst>
          </p:cNvPr>
          <p:cNvSpPr/>
          <p:nvPr/>
        </p:nvSpPr>
        <p:spPr>
          <a:xfrm>
            <a:off x="7739807" y="6346331"/>
            <a:ext cx="3879267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END-TO-END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272074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EBF6C77-CF02-C518-091F-C00BBBEB5E1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4706" y="0"/>
            <a:ext cx="6317294" cy="6858000"/>
          </a:xfrm>
          <a:custGeom>
            <a:avLst/>
            <a:gdLst>
              <a:gd name="connsiteX0" fmla="*/ 0 w 6317294"/>
              <a:gd name="connsiteY0" fmla="*/ 0 h 6858000"/>
              <a:gd name="connsiteX1" fmla="*/ 6317294 w 6317294"/>
              <a:gd name="connsiteY1" fmla="*/ 0 h 6858000"/>
              <a:gd name="connsiteX2" fmla="*/ 6317294 w 6317294"/>
              <a:gd name="connsiteY2" fmla="*/ 6858000 h 6858000"/>
              <a:gd name="connsiteX3" fmla="*/ 1263460 w 631729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7294" h="6858000">
                <a:moveTo>
                  <a:pt x="0" y="0"/>
                </a:moveTo>
                <a:lnTo>
                  <a:pt x="6317294" y="0"/>
                </a:lnTo>
                <a:lnTo>
                  <a:pt x="6317294" y="6858000"/>
                </a:lnTo>
                <a:lnTo>
                  <a:pt x="1263460" y="6858000"/>
                </a:lnTo>
                <a:close/>
              </a:path>
            </a:pathLst>
          </a:cu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366691F-134A-1EFE-F3A3-9DD97740B487}"/>
              </a:ext>
            </a:extLst>
          </p:cNvPr>
          <p:cNvSpPr txBox="1">
            <a:spLocks/>
          </p:cNvSpPr>
          <p:nvPr/>
        </p:nvSpPr>
        <p:spPr>
          <a:xfrm>
            <a:off x="603872" y="2455598"/>
            <a:ext cx="5809296" cy="15425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b="1" dirty="0">
                <a:solidFill>
                  <a:schemeClr val="bg1"/>
                </a:solidFill>
                <a:latin typeface="Arial Black" panose="020B0604020202020204" pitchFamily="34" charset="0"/>
              </a:rPr>
              <a:t>INDUSTRIAL MANUFACTURING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D49C423-834B-194F-A539-464C9135432B}"/>
              </a:ext>
            </a:extLst>
          </p:cNvPr>
          <p:cNvSpPr txBox="1">
            <a:spLocks/>
          </p:cNvSpPr>
          <p:nvPr/>
        </p:nvSpPr>
        <p:spPr>
          <a:xfrm>
            <a:off x="603872" y="3951712"/>
            <a:ext cx="4286430" cy="5392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5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Nunc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varius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477D62-03E1-26FE-1A24-2B7C87530F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719117" y="441777"/>
            <a:ext cx="1730520" cy="4375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0CC1DA-BD6B-92A2-22DF-E50776D1A7F2}"/>
              </a:ext>
            </a:extLst>
          </p:cNvPr>
          <p:cNvSpPr/>
          <p:nvPr/>
        </p:nvSpPr>
        <p:spPr>
          <a:xfrm>
            <a:off x="719117" y="6352112"/>
            <a:ext cx="4286430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SUSTAINABLE, RESILIENT, COST-EFFECTIVE</a:t>
            </a:r>
            <a:endParaRPr kumimoji="0" lang="en-US" sz="1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813AD7-FA5A-2626-27BF-BCB5C72F2309}"/>
              </a:ext>
            </a:extLst>
          </p:cNvPr>
          <p:cNvSpPr/>
          <p:nvPr/>
        </p:nvSpPr>
        <p:spPr>
          <a:xfrm>
            <a:off x="712871" y="1085221"/>
            <a:ext cx="45236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STRATEGY | SOFTWARE | MANAGED SERVICES </a:t>
            </a:r>
          </a:p>
        </p:txBody>
      </p:sp>
      <p:sp>
        <p:nvSpPr>
          <p:cNvPr id="2" name="Manual Input 14">
            <a:extLst>
              <a:ext uri="{FF2B5EF4-FFF2-40B4-BE49-F238E27FC236}">
                <a16:creationId xmlns:a16="http://schemas.microsoft.com/office/drawing/2014/main" id="{A974792A-5144-5748-6399-564BA3965232}"/>
              </a:ext>
            </a:extLst>
          </p:cNvPr>
          <p:cNvSpPr/>
          <p:nvPr/>
        </p:nvSpPr>
        <p:spPr>
          <a:xfrm rot="16200000">
            <a:off x="5604354" y="270350"/>
            <a:ext cx="6858000" cy="6317293"/>
          </a:xfrm>
          <a:prstGeom prst="flowChartManualInpu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F86065-3225-38BD-FF32-C72DE51A592F}"/>
              </a:ext>
            </a:extLst>
          </p:cNvPr>
          <p:cNvSpPr/>
          <p:nvPr/>
        </p:nvSpPr>
        <p:spPr>
          <a:xfrm rot="20976550">
            <a:off x="6476210" y="1858686"/>
            <a:ext cx="71118" cy="31406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DFD14-CA40-6A83-AF3D-E28A39276BAA}"/>
              </a:ext>
            </a:extLst>
          </p:cNvPr>
          <p:cNvSpPr/>
          <p:nvPr/>
        </p:nvSpPr>
        <p:spPr>
          <a:xfrm>
            <a:off x="7739807" y="6346331"/>
            <a:ext cx="3879267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END-TO-END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225915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EBF6C77-CF02-C518-091F-C00BBBEB5E1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4706" y="0"/>
            <a:ext cx="6317294" cy="6858000"/>
          </a:xfrm>
          <a:custGeom>
            <a:avLst/>
            <a:gdLst>
              <a:gd name="connsiteX0" fmla="*/ 0 w 6317294"/>
              <a:gd name="connsiteY0" fmla="*/ 0 h 6858000"/>
              <a:gd name="connsiteX1" fmla="*/ 6317294 w 6317294"/>
              <a:gd name="connsiteY1" fmla="*/ 0 h 6858000"/>
              <a:gd name="connsiteX2" fmla="*/ 6317294 w 6317294"/>
              <a:gd name="connsiteY2" fmla="*/ 6858000 h 6858000"/>
              <a:gd name="connsiteX3" fmla="*/ 1263460 w 631729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7294" h="6858000">
                <a:moveTo>
                  <a:pt x="0" y="0"/>
                </a:moveTo>
                <a:lnTo>
                  <a:pt x="6317294" y="0"/>
                </a:lnTo>
                <a:lnTo>
                  <a:pt x="6317294" y="6858000"/>
                </a:lnTo>
                <a:lnTo>
                  <a:pt x="1263460" y="6858000"/>
                </a:lnTo>
                <a:close/>
              </a:path>
            </a:pathLst>
          </a:cu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366691F-134A-1EFE-F3A3-9DD97740B487}"/>
              </a:ext>
            </a:extLst>
          </p:cNvPr>
          <p:cNvSpPr txBox="1">
            <a:spLocks/>
          </p:cNvSpPr>
          <p:nvPr/>
        </p:nvSpPr>
        <p:spPr>
          <a:xfrm>
            <a:off x="603872" y="2455598"/>
            <a:ext cx="5809296" cy="15425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800" b="1" dirty="0">
                <a:solidFill>
                  <a:schemeClr val="bg1"/>
                </a:solidFill>
                <a:latin typeface="Arial Black" panose="020B0604020202020204" pitchFamily="34" charset="0"/>
              </a:rPr>
              <a:t>LIFE SCIENCES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D49C423-834B-194F-A539-464C9135432B}"/>
              </a:ext>
            </a:extLst>
          </p:cNvPr>
          <p:cNvSpPr txBox="1">
            <a:spLocks/>
          </p:cNvSpPr>
          <p:nvPr/>
        </p:nvSpPr>
        <p:spPr>
          <a:xfrm>
            <a:off x="603872" y="3951712"/>
            <a:ext cx="4286430" cy="5392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5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Nunc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varius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477D62-03E1-26FE-1A24-2B7C87530F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719117" y="441777"/>
            <a:ext cx="1730520" cy="4375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0CC1DA-BD6B-92A2-22DF-E50776D1A7F2}"/>
              </a:ext>
            </a:extLst>
          </p:cNvPr>
          <p:cNvSpPr/>
          <p:nvPr/>
        </p:nvSpPr>
        <p:spPr>
          <a:xfrm>
            <a:off x="719117" y="6352112"/>
            <a:ext cx="4286430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SUSTAINABLE, RESILIENT, COST-EFFECTIVE</a:t>
            </a:r>
            <a:endParaRPr kumimoji="0" lang="en-US" sz="1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813AD7-FA5A-2626-27BF-BCB5C72F2309}"/>
              </a:ext>
            </a:extLst>
          </p:cNvPr>
          <p:cNvSpPr/>
          <p:nvPr/>
        </p:nvSpPr>
        <p:spPr>
          <a:xfrm>
            <a:off x="712871" y="1085221"/>
            <a:ext cx="45236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STRATEGY | SOFTWARE | MANAGED SERVICES </a:t>
            </a:r>
          </a:p>
        </p:txBody>
      </p:sp>
      <p:sp>
        <p:nvSpPr>
          <p:cNvPr id="2" name="Manual Input 14">
            <a:extLst>
              <a:ext uri="{FF2B5EF4-FFF2-40B4-BE49-F238E27FC236}">
                <a16:creationId xmlns:a16="http://schemas.microsoft.com/office/drawing/2014/main" id="{9274E7A6-219A-F409-B828-9440DC0CE8EF}"/>
              </a:ext>
            </a:extLst>
          </p:cNvPr>
          <p:cNvSpPr/>
          <p:nvPr/>
        </p:nvSpPr>
        <p:spPr>
          <a:xfrm rot="16200000">
            <a:off x="5604354" y="270350"/>
            <a:ext cx="6858000" cy="6317293"/>
          </a:xfrm>
          <a:prstGeom prst="flowChartManualInpu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F86065-3225-38BD-FF32-C72DE51A592F}"/>
              </a:ext>
            </a:extLst>
          </p:cNvPr>
          <p:cNvSpPr/>
          <p:nvPr/>
        </p:nvSpPr>
        <p:spPr>
          <a:xfrm rot="20976550">
            <a:off x="6476210" y="1858686"/>
            <a:ext cx="71118" cy="31406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DFD14-CA40-6A83-AF3D-E28A39276BAA}"/>
              </a:ext>
            </a:extLst>
          </p:cNvPr>
          <p:cNvSpPr/>
          <p:nvPr/>
        </p:nvSpPr>
        <p:spPr>
          <a:xfrm>
            <a:off x="7739807" y="6346331"/>
            <a:ext cx="3879267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END-TO-END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33831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EBF6C77-CF02-C518-091F-C00BBBEB5E1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4706" y="0"/>
            <a:ext cx="6317294" cy="6858000"/>
          </a:xfrm>
          <a:custGeom>
            <a:avLst/>
            <a:gdLst>
              <a:gd name="connsiteX0" fmla="*/ 0 w 6317294"/>
              <a:gd name="connsiteY0" fmla="*/ 0 h 6858000"/>
              <a:gd name="connsiteX1" fmla="*/ 6317294 w 6317294"/>
              <a:gd name="connsiteY1" fmla="*/ 0 h 6858000"/>
              <a:gd name="connsiteX2" fmla="*/ 6317294 w 6317294"/>
              <a:gd name="connsiteY2" fmla="*/ 6858000 h 6858000"/>
              <a:gd name="connsiteX3" fmla="*/ 1263460 w 631729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7294" h="6858000">
                <a:moveTo>
                  <a:pt x="0" y="0"/>
                </a:moveTo>
                <a:lnTo>
                  <a:pt x="6317294" y="0"/>
                </a:lnTo>
                <a:lnTo>
                  <a:pt x="6317294" y="6858000"/>
                </a:lnTo>
                <a:lnTo>
                  <a:pt x="1263460" y="6858000"/>
                </a:lnTo>
                <a:close/>
              </a:path>
            </a:pathLst>
          </a:cu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366691F-134A-1EFE-F3A3-9DD97740B487}"/>
              </a:ext>
            </a:extLst>
          </p:cNvPr>
          <p:cNvSpPr txBox="1">
            <a:spLocks/>
          </p:cNvSpPr>
          <p:nvPr/>
        </p:nvSpPr>
        <p:spPr>
          <a:xfrm>
            <a:off x="603872" y="2455598"/>
            <a:ext cx="5809296" cy="15425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800" b="1" dirty="0">
                <a:solidFill>
                  <a:schemeClr val="bg1"/>
                </a:solidFill>
                <a:latin typeface="Arial Black" panose="020B0604020202020204" pitchFamily="34" charset="0"/>
              </a:rPr>
              <a:t>OIL &amp; GAS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D49C423-834B-194F-A539-464C9135432B}"/>
              </a:ext>
            </a:extLst>
          </p:cNvPr>
          <p:cNvSpPr txBox="1">
            <a:spLocks/>
          </p:cNvSpPr>
          <p:nvPr/>
        </p:nvSpPr>
        <p:spPr>
          <a:xfrm>
            <a:off x="603872" y="3951712"/>
            <a:ext cx="4286430" cy="5392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5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Nunc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varius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477D62-03E1-26FE-1A24-2B7C87530F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719117" y="441777"/>
            <a:ext cx="1730520" cy="4375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0CC1DA-BD6B-92A2-22DF-E50776D1A7F2}"/>
              </a:ext>
            </a:extLst>
          </p:cNvPr>
          <p:cNvSpPr/>
          <p:nvPr/>
        </p:nvSpPr>
        <p:spPr>
          <a:xfrm>
            <a:off x="719117" y="6352112"/>
            <a:ext cx="4286430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SUSTAINABLE, RESILIENT, COST-EFFECTIVE</a:t>
            </a:r>
            <a:endParaRPr kumimoji="0" lang="en-US" sz="1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813AD7-FA5A-2626-27BF-BCB5C72F2309}"/>
              </a:ext>
            </a:extLst>
          </p:cNvPr>
          <p:cNvSpPr/>
          <p:nvPr/>
        </p:nvSpPr>
        <p:spPr>
          <a:xfrm>
            <a:off x="712871" y="1085221"/>
            <a:ext cx="45236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STRATEGY | SOFTWARE | MANAGED SERVICES </a:t>
            </a:r>
          </a:p>
        </p:txBody>
      </p:sp>
      <p:sp>
        <p:nvSpPr>
          <p:cNvPr id="2" name="Manual Input 14">
            <a:extLst>
              <a:ext uri="{FF2B5EF4-FFF2-40B4-BE49-F238E27FC236}">
                <a16:creationId xmlns:a16="http://schemas.microsoft.com/office/drawing/2014/main" id="{7576D1CF-654E-0ADE-DCDA-733B1EE93A04}"/>
              </a:ext>
            </a:extLst>
          </p:cNvPr>
          <p:cNvSpPr/>
          <p:nvPr/>
        </p:nvSpPr>
        <p:spPr>
          <a:xfrm rot="16200000">
            <a:off x="5604354" y="270350"/>
            <a:ext cx="6858000" cy="6317293"/>
          </a:xfrm>
          <a:prstGeom prst="flowChartManualInpu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F86065-3225-38BD-FF32-C72DE51A592F}"/>
              </a:ext>
            </a:extLst>
          </p:cNvPr>
          <p:cNvSpPr/>
          <p:nvPr/>
        </p:nvSpPr>
        <p:spPr>
          <a:xfrm rot="20976550">
            <a:off x="6476210" y="1858686"/>
            <a:ext cx="71118" cy="31406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DFD14-CA40-6A83-AF3D-E28A39276BAA}"/>
              </a:ext>
            </a:extLst>
          </p:cNvPr>
          <p:cNvSpPr/>
          <p:nvPr/>
        </p:nvSpPr>
        <p:spPr>
          <a:xfrm>
            <a:off x="7739807" y="6346331"/>
            <a:ext cx="3879267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END-TO-END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3792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EBF6C77-CF02-C518-091F-C00BBBEB5E19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4706" y="0"/>
            <a:ext cx="6317294" cy="6858000"/>
          </a:xfrm>
          <a:custGeom>
            <a:avLst/>
            <a:gdLst>
              <a:gd name="connsiteX0" fmla="*/ 0 w 6317294"/>
              <a:gd name="connsiteY0" fmla="*/ 0 h 6858000"/>
              <a:gd name="connsiteX1" fmla="*/ 6317294 w 6317294"/>
              <a:gd name="connsiteY1" fmla="*/ 0 h 6858000"/>
              <a:gd name="connsiteX2" fmla="*/ 6317294 w 6317294"/>
              <a:gd name="connsiteY2" fmla="*/ 6858000 h 6858000"/>
              <a:gd name="connsiteX3" fmla="*/ 1263460 w 631729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7294" h="6858000">
                <a:moveTo>
                  <a:pt x="0" y="0"/>
                </a:moveTo>
                <a:lnTo>
                  <a:pt x="6317294" y="0"/>
                </a:lnTo>
                <a:lnTo>
                  <a:pt x="6317294" y="6858000"/>
                </a:lnTo>
                <a:lnTo>
                  <a:pt x="1263460" y="6858000"/>
                </a:lnTo>
                <a:close/>
              </a:path>
            </a:pathLst>
          </a:cu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366691F-134A-1EFE-F3A3-9DD97740B487}"/>
              </a:ext>
            </a:extLst>
          </p:cNvPr>
          <p:cNvSpPr txBox="1">
            <a:spLocks/>
          </p:cNvSpPr>
          <p:nvPr/>
        </p:nvSpPr>
        <p:spPr>
          <a:xfrm>
            <a:off x="603872" y="2455598"/>
            <a:ext cx="5809296" cy="15425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800" b="1" dirty="0">
                <a:solidFill>
                  <a:schemeClr val="bg1"/>
                </a:solidFill>
                <a:latin typeface="Arial Black" panose="020B0604020202020204" pitchFamily="34" charset="0"/>
              </a:rPr>
              <a:t>PRIVATE EQUITY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D49C423-834B-194F-A539-464C9135432B}"/>
              </a:ext>
            </a:extLst>
          </p:cNvPr>
          <p:cNvSpPr txBox="1">
            <a:spLocks/>
          </p:cNvSpPr>
          <p:nvPr/>
        </p:nvSpPr>
        <p:spPr>
          <a:xfrm>
            <a:off x="603872" y="3951712"/>
            <a:ext cx="4286430" cy="5392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5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Nunc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varius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477D62-03E1-26FE-1A24-2B7C87530F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719117" y="441777"/>
            <a:ext cx="1730520" cy="4375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0CC1DA-BD6B-92A2-22DF-E50776D1A7F2}"/>
              </a:ext>
            </a:extLst>
          </p:cNvPr>
          <p:cNvSpPr/>
          <p:nvPr/>
        </p:nvSpPr>
        <p:spPr>
          <a:xfrm>
            <a:off x="719117" y="6352112"/>
            <a:ext cx="4286430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SUSTAINABLE, RESILIENT, COST-EFFECTIVE</a:t>
            </a:r>
            <a:endParaRPr kumimoji="0" lang="en-US" sz="1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813AD7-FA5A-2626-27BF-BCB5C72F2309}"/>
              </a:ext>
            </a:extLst>
          </p:cNvPr>
          <p:cNvSpPr/>
          <p:nvPr/>
        </p:nvSpPr>
        <p:spPr>
          <a:xfrm>
            <a:off x="712871" y="1085221"/>
            <a:ext cx="45236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STRATEGY | SOFTWARE | MANAGED SERVICES </a:t>
            </a:r>
          </a:p>
        </p:txBody>
      </p:sp>
      <p:sp>
        <p:nvSpPr>
          <p:cNvPr id="2" name="Manual Input 14">
            <a:extLst>
              <a:ext uri="{FF2B5EF4-FFF2-40B4-BE49-F238E27FC236}">
                <a16:creationId xmlns:a16="http://schemas.microsoft.com/office/drawing/2014/main" id="{607CD7B6-A361-B98A-4EDE-CE3C04C96B14}"/>
              </a:ext>
            </a:extLst>
          </p:cNvPr>
          <p:cNvSpPr/>
          <p:nvPr/>
        </p:nvSpPr>
        <p:spPr>
          <a:xfrm rot="16200000">
            <a:off x="5604354" y="270350"/>
            <a:ext cx="6858000" cy="6317293"/>
          </a:xfrm>
          <a:prstGeom prst="flowChartManualInpu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F86065-3225-38BD-FF32-C72DE51A592F}"/>
              </a:ext>
            </a:extLst>
          </p:cNvPr>
          <p:cNvSpPr/>
          <p:nvPr/>
        </p:nvSpPr>
        <p:spPr>
          <a:xfrm rot="20976550">
            <a:off x="6476210" y="1858686"/>
            <a:ext cx="71118" cy="31406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DFD14-CA40-6A83-AF3D-E28A39276BAA}"/>
              </a:ext>
            </a:extLst>
          </p:cNvPr>
          <p:cNvSpPr/>
          <p:nvPr/>
        </p:nvSpPr>
        <p:spPr>
          <a:xfrm>
            <a:off x="7739807" y="6346331"/>
            <a:ext cx="3879267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END-TO-END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04441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EBF6C77-CF02-C518-091F-C00BBBEB5E19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4706" y="0"/>
            <a:ext cx="6317294" cy="6858000"/>
          </a:xfrm>
          <a:custGeom>
            <a:avLst/>
            <a:gdLst>
              <a:gd name="connsiteX0" fmla="*/ 0 w 6317294"/>
              <a:gd name="connsiteY0" fmla="*/ 0 h 6858000"/>
              <a:gd name="connsiteX1" fmla="*/ 6317294 w 6317294"/>
              <a:gd name="connsiteY1" fmla="*/ 0 h 6858000"/>
              <a:gd name="connsiteX2" fmla="*/ 6317294 w 6317294"/>
              <a:gd name="connsiteY2" fmla="*/ 6858000 h 6858000"/>
              <a:gd name="connsiteX3" fmla="*/ 1263460 w 631729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7294" h="6858000">
                <a:moveTo>
                  <a:pt x="0" y="0"/>
                </a:moveTo>
                <a:lnTo>
                  <a:pt x="6317294" y="0"/>
                </a:lnTo>
                <a:lnTo>
                  <a:pt x="6317294" y="6858000"/>
                </a:lnTo>
                <a:lnTo>
                  <a:pt x="1263460" y="6858000"/>
                </a:lnTo>
                <a:close/>
              </a:path>
            </a:pathLst>
          </a:cu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366691F-134A-1EFE-F3A3-9DD97740B487}"/>
              </a:ext>
            </a:extLst>
          </p:cNvPr>
          <p:cNvSpPr txBox="1">
            <a:spLocks/>
          </p:cNvSpPr>
          <p:nvPr/>
        </p:nvSpPr>
        <p:spPr>
          <a:xfrm>
            <a:off x="603872" y="2455598"/>
            <a:ext cx="5809296" cy="15425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800" b="1" dirty="0">
                <a:solidFill>
                  <a:schemeClr val="bg1"/>
                </a:solidFill>
                <a:latin typeface="Arial Black" panose="020B0604020202020204" pitchFamily="34" charset="0"/>
              </a:rPr>
              <a:t>RETAIL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D49C423-834B-194F-A539-464C9135432B}"/>
              </a:ext>
            </a:extLst>
          </p:cNvPr>
          <p:cNvSpPr txBox="1">
            <a:spLocks/>
          </p:cNvSpPr>
          <p:nvPr/>
        </p:nvSpPr>
        <p:spPr>
          <a:xfrm>
            <a:off x="603872" y="3951712"/>
            <a:ext cx="4286430" cy="5392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5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Nunc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varius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477D62-03E1-26FE-1A24-2B7C87530F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719117" y="441777"/>
            <a:ext cx="1730520" cy="4375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0CC1DA-BD6B-92A2-22DF-E50776D1A7F2}"/>
              </a:ext>
            </a:extLst>
          </p:cNvPr>
          <p:cNvSpPr/>
          <p:nvPr/>
        </p:nvSpPr>
        <p:spPr>
          <a:xfrm>
            <a:off x="719117" y="6352112"/>
            <a:ext cx="4286430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SUSTAINABLE, RESILIENT, COST-EFFECTIVE</a:t>
            </a:r>
            <a:endParaRPr kumimoji="0" lang="en-US" sz="1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813AD7-FA5A-2626-27BF-BCB5C72F2309}"/>
              </a:ext>
            </a:extLst>
          </p:cNvPr>
          <p:cNvSpPr/>
          <p:nvPr/>
        </p:nvSpPr>
        <p:spPr>
          <a:xfrm>
            <a:off x="712871" y="1085221"/>
            <a:ext cx="45236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STRATEGY | SOFTWARE | MANAGED SERVICES </a:t>
            </a:r>
          </a:p>
        </p:txBody>
      </p:sp>
      <p:sp>
        <p:nvSpPr>
          <p:cNvPr id="2" name="Manual Input 14">
            <a:extLst>
              <a:ext uri="{FF2B5EF4-FFF2-40B4-BE49-F238E27FC236}">
                <a16:creationId xmlns:a16="http://schemas.microsoft.com/office/drawing/2014/main" id="{21668E08-7E9A-FBA2-4E22-AD0EF13229DB}"/>
              </a:ext>
            </a:extLst>
          </p:cNvPr>
          <p:cNvSpPr/>
          <p:nvPr/>
        </p:nvSpPr>
        <p:spPr>
          <a:xfrm rot="16200000">
            <a:off x="5604354" y="270350"/>
            <a:ext cx="6858000" cy="6317293"/>
          </a:xfrm>
          <a:prstGeom prst="flowChartManualInpu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F86065-3225-38BD-FF32-C72DE51A592F}"/>
              </a:ext>
            </a:extLst>
          </p:cNvPr>
          <p:cNvSpPr/>
          <p:nvPr/>
        </p:nvSpPr>
        <p:spPr>
          <a:xfrm rot="20976550">
            <a:off x="6476210" y="1858686"/>
            <a:ext cx="71118" cy="31406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DFD14-CA40-6A83-AF3D-E28A39276BAA}"/>
              </a:ext>
            </a:extLst>
          </p:cNvPr>
          <p:cNvSpPr/>
          <p:nvPr/>
        </p:nvSpPr>
        <p:spPr>
          <a:xfrm>
            <a:off x="7739807" y="6346331"/>
            <a:ext cx="3879267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END-TO-END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80273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EBF6C77-CF02-C518-091F-C00BBBEB5E1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4706" y="0"/>
            <a:ext cx="6317294" cy="6858000"/>
          </a:xfrm>
          <a:custGeom>
            <a:avLst/>
            <a:gdLst>
              <a:gd name="connsiteX0" fmla="*/ 0 w 6317294"/>
              <a:gd name="connsiteY0" fmla="*/ 0 h 6858000"/>
              <a:gd name="connsiteX1" fmla="*/ 6317294 w 6317294"/>
              <a:gd name="connsiteY1" fmla="*/ 0 h 6858000"/>
              <a:gd name="connsiteX2" fmla="*/ 6317294 w 6317294"/>
              <a:gd name="connsiteY2" fmla="*/ 6858000 h 6858000"/>
              <a:gd name="connsiteX3" fmla="*/ 1263460 w 631729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7294" h="6858000">
                <a:moveTo>
                  <a:pt x="0" y="0"/>
                </a:moveTo>
                <a:lnTo>
                  <a:pt x="6317294" y="0"/>
                </a:lnTo>
                <a:lnTo>
                  <a:pt x="6317294" y="6858000"/>
                </a:lnTo>
                <a:lnTo>
                  <a:pt x="1263460" y="6858000"/>
                </a:lnTo>
                <a:close/>
              </a:path>
            </a:pathLst>
          </a:cu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366691F-134A-1EFE-F3A3-9DD97740B487}"/>
              </a:ext>
            </a:extLst>
          </p:cNvPr>
          <p:cNvSpPr txBox="1">
            <a:spLocks/>
          </p:cNvSpPr>
          <p:nvPr/>
        </p:nvSpPr>
        <p:spPr>
          <a:xfrm>
            <a:off x="603872" y="2455598"/>
            <a:ext cx="5809296" cy="15425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000" b="1" dirty="0">
                <a:solidFill>
                  <a:schemeClr val="bg1"/>
                </a:solidFill>
                <a:latin typeface="Arial Black" panose="020B0604020202020204" pitchFamily="34" charset="0"/>
              </a:rPr>
              <a:t>TELE-COMMUNICATIONS, MEDIA &amp; TECHNOLOGY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D49C423-834B-194F-A539-464C9135432B}"/>
              </a:ext>
            </a:extLst>
          </p:cNvPr>
          <p:cNvSpPr txBox="1">
            <a:spLocks/>
          </p:cNvSpPr>
          <p:nvPr/>
        </p:nvSpPr>
        <p:spPr>
          <a:xfrm>
            <a:off x="603872" y="3951712"/>
            <a:ext cx="4286430" cy="5392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5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Nunc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varius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477D62-03E1-26FE-1A24-2B7C87530F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719117" y="441777"/>
            <a:ext cx="1730520" cy="4375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0CC1DA-BD6B-92A2-22DF-E50776D1A7F2}"/>
              </a:ext>
            </a:extLst>
          </p:cNvPr>
          <p:cNvSpPr/>
          <p:nvPr/>
        </p:nvSpPr>
        <p:spPr>
          <a:xfrm>
            <a:off x="719117" y="6352112"/>
            <a:ext cx="4286430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SUSTAINABLE, RESILIENT, COST-EFFECTIVE</a:t>
            </a:r>
            <a:endParaRPr kumimoji="0" lang="en-US" sz="1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813AD7-FA5A-2626-27BF-BCB5C72F2309}"/>
              </a:ext>
            </a:extLst>
          </p:cNvPr>
          <p:cNvSpPr/>
          <p:nvPr/>
        </p:nvSpPr>
        <p:spPr>
          <a:xfrm>
            <a:off x="712871" y="1085221"/>
            <a:ext cx="45236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STRATEGY | SOFTWARE | MANAGED SERVICES </a:t>
            </a:r>
          </a:p>
        </p:txBody>
      </p:sp>
      <p:sp>
        <p:nvSpPr>
          <p:cNvPr id="2" name="Manual Input 14">
            <a:extLst>
              <a:ext uri="{FF2B5EF4-FFF2-40B4-BE49-F238E27FC236}">
                <a16:creationId xmlns:a16="http://schemas.microsoft.com/office/drawing/2014/main" id="{EE40887A-A079-A66B-1DE5-A489CAB2D702}"/>
              </a:ext>
            </a:extLst>
          </p:cNvPr>
          <p:cNvSpPr/>
          <p:nvPr/>
        </p:nvSpPr>
        <p:spPr>
          <a:xfrm rot="16200000">
            <a:off x="5604354" y="270350"/>
            <a:ext cx="6858000" cy="6317293"/>
          </a:xfrm>
          <a:prstGeom prst="flowChartManualInpu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F86065-3225-38BD-FF32-C72DE51A592F}"/>
              </a:ext>
            </a:extLst>
          </p:cNvPr>
          <p:cNvSpPr/>
          <p:nvPr/>
        </p:nvSpPr>
        <p:spPr>
          <a:xfrm rot="20976550">
            <a:off x="6476210" y="1858686"/>
            <a:ext cx="71118" cy="31406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DFD14-CA40-6A83-AF3D-E28A39276BAA}"/>
              </a:ext>
            </a:extLst>
          </p:cNvPr>
          <p:cNvSpPr/>
          <p:nvPr/>
        </p:nvSpPr>
        <p:spPr>
          <a:xfrm>
            <a:off x="7739807" y="6346331"/>
            <a:ext cx="3879267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END-TO-END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31881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EBF6C77-CF02-C518-091F-C00BBBEB5E19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4706" y="0"/>
            <a:ext cx="6317294" cy="6858000"/>
          </a:xfrm>
          <a:custGeom>
            <a:avLst/>
            <a:gdLst>
              <a:gd name="connsiteX0" fmla="*/ 0 w 6317294"/>
              <a:gd name="connsiteY0" fmla="*/ 0 h 6858000"/>
              <a:gd name="connsiteX1" fmla="*/ 6317294 w 6317294"/>
              <a:gd name="connsiteY1" fmla="*/ 0 h 6858000"/>
              <a:gd name="connsiteX2" fmla="*/ 6317294 w 6317294"/>
              <a:gd name="connsiteY2" fmla="*/ 6858000 h 6858000"/>
              <a:gd name="connsiteX3" fmla="*/ 1263460 w 631729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7294" h="6858000">
                <a:moveTo>
                  <a:pt x="0" y="0"/>
                </a:moveTo>
                <a:lnTo>
                  <a:pt x="6317294" y="0"/>
                </a:lnTo>
                <a:lnTo>
                  <a:pt x="6317294" y="6858000"/>
                </a:lnTo>
                <a:lnTo>
                  <a:pt x="1263460" y="6858000"/>
                </a:lnTo>
                <a:close/>
              </a:path>
            </a:pathLst>
          </a:cu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366691F-134A-1EFE-F3A3-9DD97740B487}"/>
              </a:ext>
            </a:extLst>
          </p:cNvPr>
          <p:cNvSpPr txBox="1">
            <a:spLocks/>
          </p:cNvSpPr>
          <p:nvPr/>
        </p:nvSpPr>
        <p:spPr>
          <a:xfrm>
            <a:off x="603872" y="2455598"/>
            <a:ext cx="5809296" cy="15425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000" b="1" dirty="0">
                <a:solidFill>
                  <a:schemeClr val="bg1"/>
                </a:solidFill>
                <a:latin typeface="Arial Black" panose="020B0604020202020204" pitchFamily="34" charset="0"/>
              </a:rPr>
              <a:t>TRAVEL &amp; HOSPITALITY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D49C423-834B-194F-A539-464C9135432B}"/>
              </a:ext>
            </a:extLst>
          </p:cNvPr>
          <p:cNvSpPr txBox="1">
            <a:spLocks/>
          </p:cNvSpPr>
          <p:nvPr/>
        </p:nvSpPr>
        <p:spPr>
          <a:xfrm>
            <a:off x="603872" y="3951712"/>
            <a:ext cx="4286430" cy="5392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5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Nunc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semper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neque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varius</a:t>
            </a:r>
            <a:r>
              <a:rPr lang="en-IN" sz="1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477D62-03E1-26FE-1A24-2B7C87530F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719117" y="441777"/>
            <a:ext cx="1730520" cy="4375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0CC1DA-BD6B-92A2-22DF-E50776D1A7F2}"/>
              </a:ext>
            </a:extLst>
          </p:cNvPr>
          <p:cNvSpPr/>
          <p:nvPr/>
        </p:nvSpPr>
        <p:spPr>
          <a:xfrm>
            <a:off x="719117" y="6352112"/>
            <a:ext cx="4286430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SUSTAINABLE, RESILIENT, COST-EFFECTIVE</a:t>
            </a:r>
            <a:endParaRPr kumimoji="0" lang="en-US" sz="1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813AD7-FA5A-2626-27BF-BCB5C72F2309}"/>
              </a:ext>
            </a:extLst>
          </p:cNvPr>
          <p:cNvSpPr/>
          <p:nvPr/>
        </p:nvSpPr>
        <p:spPr>
          <a:xfrm>
            <a:off x="712871" y="1085221"/>
            <a:ext cx="45236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STRATEGY | SOFTWARE | MANAGED SERVICES </a:t>
            </a:r>
          </a:p>
        </p:txBody>
      </p:sp>
      <p:sp>
        <p:nvSpPr>
          <p:cNvPr id="2" name="Manual Input 14">
            <a:extLst>
              <a:ext uri="{FF2B5EF4-FFF2-40B4-BE49-F238E27FC236}">
                <a16:creationId xmlns:a16="http://schemas.microsoft.com/office/drawing/2014/main" id="{CEC3C385-219D-2A8B-50F3-E1D713ADF4D1}"/>
              </a:ext>
            </a:extLst>
          </p:cNvPr>
          <p:cNvSpPr/>
          <p:nvPr/>
        </p:nvSpPr>
        <p:spPr>
          <a:xfrm rot="16200000">
            <a:off x="5604354" y="270350"/>
            <a:ext cx="6858000" cy="6317293"/>
          </a:xfrm>
          <a:prstGeom prst="flowChartManualInpu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F86065-3225-38BD-FF32-C72DE51A592F}"/>
              </a:ext>
            </a:extLst>
          </p:cNvPr>
          <p:cNvSpPr/>
          <p:nvPr/>
        </p:nvSpPr>
        <p:spPr>
          <a:xfrm rot="20976550">
            <a:off x="6476210" y="1858686"/>
            <a:ext cx="71118" cy="31406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DFD14-CA40-6A83-AF3D-E28A39276BAA}"/>
              </a:ext>
            </a:extLst>
          </p:cNvPr>
          <p:cNvSpPr/>
          <p:nvPr/>
        </p:nvSpPr>
        <p:spPr>
          <a:xfrm>
            <a:off x="7739807" y="6346331"/>
            <a:ext cx="3879267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2" charset="0"/>
                <a:ea typeface="+mn-ea"/>
                <a:cs typeface="+mn-cs"/>
              </a:rPr>
              <a:t>END-TO-END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48217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verpage Layout Onl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F4796D04FF9C46A6D7E997B96FAF7B" ma:contentTypeVersion="13" ma:contentTypeDescription="Create a new document." ma:contentTypeScope="" ma:versionID="43b39e3722b4c004e61911065434e11b">
  <xsd:schema xmlns:xsd="http://www.w3.org/2001/XMLSchema" xmlns:xs="http://www.w3.org/2001/XMLSchema" xmlns:p="http://schemas.microsoft.com/office/2006/metadata/properties" xmlns:ns2="7bb489f7-5985-4d9e-81cd-ca1f9ae2e6c2" xmlns:ns3="b8020dd3-b900-4351-a887-dbd59381ad83" targetNamespace="http://schemas.microsoft.com/office/2006/metadata/properties" ma:root="true" ma:fieldsID="4e398e2a9886b043e8b7019550bf9fa2" ns2:_="" ns3:_="">
    <xsd:import namespace="7bb489f7-5985-4d9e-81cd-ca1f9ae2e6c2"/>
    <xsd:import namespace="b8020dd3-b900-4351-a887-dbd59381ad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b489f7-5985-4d9e-81cd-ca1f9ae2e6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2aa5357e-f7a7-49f5-8087-f8948ec628d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020dd3-b900-4351-a887-dbd59381ad83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759713c-755c-497e-82c8-cb5c41caddd9}" ma:internalName="TaxCatchAll" ma:showField="CatchAllData" ma:web="b8020dd3-b900-4351-a887-dbd59381ad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bb489f7-5985-4d9e-81cd-ca1f9ae2e6c2">
      <Terms xmlns="http://schemas.microsoft.com/office/infopath/2007/PartnerControls"/>
    </lcf76f155ced4ddcb4097134ff3c332f>
    <TaxCatchAll xmlns="b8020dd3-b900-4351-a887-dbd59381ad83" xsi:nil="true"/>
  </documentManagement>
</p:properties>
</file>

<file path=customXml/itemProps1.xml><?xml version="1.0" encoding="utf-8"?>
<ds:datastoreItem xmlns:ds="http://schemas.openxmlformats.org/officeDocument/2006/customXml" ds:itemID="{806CF565-A7F6-4527-807C-046E353A34C1}"/>
</file>

<file path=customXml/itemProps2.xml><?xml version="1.0" encoding="utf-8"?>
<ds:datastoreItem xmlns:ds="http://schemas.openxmlformats.org/officeDocument/2006/customXml" ds:itemID="{6AD9F8ED-E200-4C76-BDF7-A97E092AF6BD}"/>
</file>

<file path=customXml/itemProps3.xml><?xml version="1.0" encoding="utf-8"?>
<ds:datastoreItem xmlns:ds="http://schemas.openxmlformats.org/officeDocument/2006/customXml" ds:itemID="{AA5F085F-C39F-45BD-ADF3-EE8039D03F3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440</Words>
  <Application>Microsoft Office PowerPoint</Application>
  <PresentationFormat>Widescreen</PresentationFormat>
  <Paragraphs>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Helvetica</vt:lpstr>
      <vt:lpstr>Coverpage Layout Only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Zahid Khan</dc:creator>
  <cp:lastModifiedBy>Swapnil Panchal</cp:lastModifiedBy>
  <cp:revision>5</cp:revision>
  <dcterms:created xsi:type="dcterms:W3CDTF">2024-01-12T10:39:47Z</dcterms:created>
  <dcterms:modified xsi:type="dcterms:W3CDTF">2024-06-19T11:15:08Z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0x0101003DF4796D04FF9C46A6D7E997B96FAF7B</vt:lpwstr>
  </property>
</Properties>
</file>